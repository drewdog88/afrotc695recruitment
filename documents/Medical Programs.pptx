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66" r:id="rId6"/>
    <p:sldId id="267" r:id="rId7"/>
    <p:sldId id="278" r:id="rId8"/>
    <p:sldId id="268" r:id="rId9"/>
    <p:sldId id="279" r:id="rId10"/>
    <p:sldId id="269" r:id="rId11"/>
    <p:sldId id="270" r:id="rId12"/>
    <p:sldId id="277" r:id="rId13"/>
    <p:sldId id="275" r:id="rId14"/>
  </p:sldIdLst>
  <p:sldSz cx="12192000" cy="6858000"/>
  <p:notesSz cx="6858000" cy="9144000"/>
  <p:embeddedFontLst>
    <p:embeddedFont>
      <p:font typeface="Montserrat" panose="020B0604020202020204" charset="0"/>
      <p:regular r:id="rId16"/>
      <p:bold r:id="rId17"/>
      <p:italic r:id="rId18"/>
      <p:boldItalic r:id="rId19"/>
    </p:embeddedFont>
    <p:embeddedFont>
      <p:font typeface="Open Sans" panose="020B0604020202020204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jgDdibRRR3+wV07qcRVJb/wgrB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rforce.com/watch-videos/A4uGvzn-2q4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airforce.com/watch-videos/h7StHLe-Yb4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Attention getter: </a:t>
            </a:r>
            <a:r>
              <a:rPr lang="en-US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https://www.airforce.com/watch-videos/A4uGvzn-2q4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https://www.airforce.com/watch-videos/h7StHLe-Yb4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" name="Google Shape;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3e14285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e3e142850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e3e142850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7575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3e14285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e3e142850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e3e142850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0590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4" name="Google Shape;2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lank">
  <p:cSld name="4_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>
            <a:spLocks noGrp="1"/>
          </p:cNvSpPr>
          <p:nvPr>
            <p:ph type="body" idx="1"/>
          </p:nvPr>
        </p:nvSpPr>
        <p:spPr>
          <a:xfrm>
            <a:off x="2169974" y="187421"/>
            <a:ext cx="8115457" cy="943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FFFFFF"/>
              </a:buClr>
              <a:buSzPts val="5333"/>
              <a:buFont typeface="Arial"/>
              <a:buNone/>
              <a:defRPr sz="53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4" name="Google Shape;1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3223" y="90916"/>
            <a:ext cx="1188753" cy="1183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11559593" y="6539442"/>
            <a:ext cx="634052" cy="366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2169974" y="187421"/>
            <a:ext cx="8115457" cy="943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FFFFFF"/>
              </a:buClr>
              <a:buSzPts val="5333"/>
              <a:buFont typeface="Arial"/>
              <a:buNone/>
              <a:defRPr sz="53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>
            <a:spLocks noGrp="1"/>
          </p:cNvSpPr>
          <p:nvPr>
            <p:ph type="pic" idx="2"/>
          </p:nvPr>
        </p:nvSpPr>
        <p:spPr>
          <a:xfrm>
            <a:off x="10798761" y="149793"/>
            <a:ext cx="1036320" cy="1036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>
              <a:srgbClr val="000000">
                <a:alpha val="4235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>
            <a:spLocks noGrp="1"/>
          </p:cNvSpPr>
          <p:nvPr>
            <p:ph type="body" idx="1"/>
          </p:nvPr>
        </p:nvSpPr>
        <p:spPr>
          <a:xfrm>
            <a:off x="37512" y="1697646"/>
            <a:ext cx="5980081" cy="3491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body" idx="2"/>
          </p:nvPr>
        </p:nvSpPr>
        <p:spPr>
          <a:xfrm>
            <a:off x="2169974" y="187421"/>
            <a:ext cx="8115457" cy="943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9"/>
          <p:cNvSpPr>
            <a:spLocks noGrp="1"/>
          </p:cNvSpPr>
          <p:nvPr>
            <p:ph type="pic" idx="3"/>
          </p:nvPr>
        </p:nvSpPr>
        <p:spPr>
          <a:xfrm>
            <a:off x="10798761" y="149793"/>
            <a:ext cx="1036320" cy="1036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>
              <a:srgbClr val="000000">
                <a:alpha val="4235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19"/>
          <p:cNvSpPr/>
          <p:nvPr/>
        </p:nvSpPr>
        <p:spPr>
          <a:xfrm>
            <a:off x="6147252" y="1708263"/>
            <a:ext cx="5947534" cy="1843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650" tIns="66825" rIns="133650" bIns="66825" anchor="t" anchorCtr="0">
            <a:noAutofit/>
          </a:bodyPr>
          <a:lstStyle/>
          <a:p>
            <a:pPr marL="22860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19"/>
          <p:cNvCxnSpPr/>
          <p:nvPr/>
        </p:nvCxnSpPr>
        <p:spPr>
          <a:xfrm>
            <a:off x="6081385" y="1365591"/>
            <a:ext cx="7688" cy="3897511"/>
          </a:xfrm>
          <a:prstGeom prst="straightConnector1">
            <a:avLst/>
          </a:prstGeom>
          <a:noFill/>
          <a:ln w="5715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</p:cxnSp>
      <p:sp>
        <p:nvSpPr>
          <p:cNvPr id="25" name="Google Shape;25;p19"/>
          <p:cNvSpPr txBox="1"/>
          <p:nvPr/>
        </p:nvSpPr>
        <p:spPr>
          <a:xfrm>
            <a:off x="6169987" y="3118512"/>
            <a:ext cx="5980081" cy="301960"/>
          </a:xfrm>
          <a:prstGeom prst="rect">
            <a:avLst/>
          </a:prstGeom>
          <a:gradFill>
            <a:gsLst>
              <a:gs pos="0">
                <a:srgbClr val="0000B2"/>
              </a:gs>
              <a:gs pos="50000">
                <a:srgbClr val="0000FF"/>
              </a:gs>
              <a:gs pos="100000">
                <a:srgbClr val="0000B2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10975" tIns="55475" rIns="110975" bIns="55475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1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Way Ahead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19"/>
          <p:cNvCxnSpPr/>
          <p:nvPr/>
        </p:nvCxnSpPr>
        <p:spPr>
          <a:xfrm rot="10800000" flipH="1">
            <a:off x="56704" y="5263102"/>
            <a:ext cx="12038082" cy="15352"/>
          </a:xfrm>
          <a:prstGeom prst="straightConnector1">
            <a:avLst/>
          </a:prstGeom>
          <a:noFill/>
          <a:ln w="5715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</p:cxnSp>
      <p:sp>
        <p:nvSpPr>
          <p:cNvPr id="27" name="Google Shape;27;p19"/>
          <p:cNvSpPr txBox="1"/>
          <p:nvPr/>
        </p:nvSpPr>
        <p:spPr>
          <a:xfrm>
            <a:off x="6147252" y="1395685"/>
            <a:ext cx="5980081" cy="301960"/>
          </a:xfrm>
          <a:prstGeom prst="rect">
            <a:avLst/>
          </a:prstGeom>
          <a:gradFill>
            <a:gsLst>
              <a:gs pos="0">
                <a:srgbClr val="0000B2"/>
              </a:gs>
              <a:gs pos="50000">
                <a:srgbClr val="0000FF"/>
              </a:gs>
              <a:gs pos="100000">
                <a:srgbClr val="0000B2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10975" tIns="55475" rIns="110975" bIns="55475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1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Stakeholder</a:t>
            </a:r>
            <a:r>
              <a:rPr lang="en-US" sz="2000" b="1" i="1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1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Interest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9"/>
          <p:cNvSpPr txBox="1"/>
          <p:nvPr/>
        </p:nvSpPr>
        <p:spPr>
          <a:xfrm>
            <a:off x="37512" y="1403881"/>
            <a:ext cx="5980081" cy="301960"/>
          </a:xfrm>
          <a:prstGeom prst="rect">
            <a:avLst/>
          </a:prstGeom>
          <a:gradFill>
            <a:gsLst>
              <a:gs pos="0">
                <a:srgbClr val="0000B2"/>
              </a:gs>
              <a:gs pos="50000">
                <a:srgbClr val="0000FF"/>
              </a:gs>
              <a:gs pos="100000">
                <a:srgbClr val="0000B2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10975" tIns="55475" rIns="110975" bIns="55475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1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Storyline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9"/>
          <p:cNvSpPr txBox="1"/>
          <p:nvPr/>
        </p:nvSpPr>
        <p:spPr>
          <a:xfrm>
            <a:off x="37510" y="5342249"/>
            <a:ext cx="12112557" cy="283301"/>
          </a:xfrm>
          <a:prstGeom prst="rect">
            <a:avLst/>
          </a:prstGeom>
          <a:gradFill>
            <a:gsLst>
              <a:gs pos="0">
                <a:srgbClr val="0000B2"/>
              </a:gs>
              <a:gs pos="50000">
                <a:srgbClr val="0000FF"/>
              </a:gs>
              <a:gs pos="100000">
                <a:srgbClr val="0000B2"/>
              </a:gs>
            </a:gsLst>
            <a:lin ang="5400000" scaled="0"/>
          </a:gra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10975" tIns="55475" rIns="110975" bIns="55475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1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Talking Points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4"/>
          </p:nvPr>
        </p:nvSpPr>
        <p:spPr>
          <a:xfrm>
            <a:off x="6147252" y="1729543"/>
            <a:ext cx="5980081" cy="1388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5"/>
          </p:nvPr>
        </p:nvSpPr>
        <p:spPr>
          <a:xfrm>
            <a:off x="6173507" y="3449356"/>
            <a:ext cx="5980081" cy="1739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6"/>
          </p:nvPr>
        </p:nvSpPr>
        <p:spPr>
          <a:xfrm>
            <a:off x="56704" y="5715315"/>
            <a:ext cx="12038082" cy="114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Blank">
  <p:cSld name="14_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body" idx="1"/>
          </p:nvPr>
        </p:nvSpPr>
        <p:spPr>
          <a:xfrm>
            <a:off x="1524000" y="0"/>
            <a:ext cx="9144000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sz="53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11277600" y="64770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&amp; Content">
  <p:cSld name="2_Title &amp;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4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>
            <a:lvl1pPr marL="457200" marR="0" lvl="0" indent="-499554" algn="l" rtl="0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lt1"/>
              </a:buClr>
              <a:buSzPts val="4267"/>
              <a:buFont typeface="Arial"/>
              <a:buChar char="•"/>
              <a:defRPr sz="42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lt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2"/>
          </p:nvPr>
        </p:nvSpPr>
        <p:spPr>
          <a:xfrm>
            <a:off x="1524000" y="1"/>
            <a:ext cx="9144000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5333"/>
              <a:buFont typeface="Arial"/>
              <a:buNone/>
              <a:defRPr sz="5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11277605" y="64770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" name="Google Shape;4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3223" y="90916"/>
            <a:ext cx="1188753" cy="1183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">
  <p:cSld name="6_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2169974" y="187421"/>
            <a:ext cx="8115457" cy="943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FFFFFF"/>
              </a:buClr>
              <a:buSzPts val="5333"/>
              <a:buFont typeface="Arial"/>
              <a:buNone/>
              <a:defRPr sz="53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0" y="1455950"/>
            <a:ext cx="12192000" cy="540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9554" algn="l" rtl="0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sz="42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sldNum" idx="12"/>
          </p:nvPr>
        </p:nvSpPr>
        <p:spPr>
          <a:xfrm>
            <a:off x="11559117" y="6538385"/>
            <a:ext cx="635000" cy="366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41569" y="63686"/>
            <a:ext cx="1235048" cy="1229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">
  <p:cSld name="5_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body" idx="1"/>
          </p:nvPr>
        </p:nvSpPr>
        <p:spPr>
          <a:xfrm>
            <a:off x="2169974" y="187421"/>
            <a:ext cx="8115457" cy="943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FFFFFF"/>
              </a:buClr>
              <a:buSzPts val="5333"/>
              <a:buFont typeface="Arial"/>
              <a:buNone/>
              <a:defRPr sz="53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2"/>
          </p:nvPr>
        </p:nvSpPr>
        <p:spPr>
          <a:xfrm>
            <a:off x="0" y="1455950"/>
            <a:ext cx="12192000" cy="540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9554" algn="l" rtl="0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sz="42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11559117" y="6538385"/>
            <a:ext cx="635000" cy="366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41569" y="63686"/>
            <a:ext cx="1235048" cy="1229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">
  <p:cSld name="1_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>
            <a:spLocks noGrp="1"/>
          </p:cNvSpPr>
          <p:nvPr>
            <p:ph type="body" idx="1"/>
          </p:nvPr>
        </p:nvSpPr>
        <p:spPr>
          <a:xfrm>
            <a:off x="2169974" y="187421"/>
            <a:ext cx="8115457" cy="943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FFFFFF"/>
              </a:buClr>
              <a:buSzPts val="5333"/>
              <a:buFont typeface="Arial"/>
              <a:buNone/>
              <a:defRPr sz="533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body" idx="2"/>
          </p:nvPr>
        </p:nvSpPr>
        <p:spPr>
          <a:xfrm>
            <a:off x="0" y="1455950"/>
            <a:ext cx="12192000" cy="540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9554" algn="l" rtl="0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sz="42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65645" algn="l" rtl="0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sldNum" idx="12"/>
          </p:nvPr>
        </p:nvSpPr>
        <p:spPr>
          <a:xfrm>
            <a:off x="11559117" y="6538385"/>
            <a:ext cx="635000" cy="366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41569" y="63686"/>
            <a:ext cx="1235048" cy="1229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8FB"/>
            </a:gs>
            <a:gs pos="43000">
              <a:srgbClr val="F4F8FB"/>
            </a:gs>
            <a:gs pos="74000">
              <a:srgbClr val="AEC5E1"/>
            </a:gs>
            <a:gs pos="83000">
              <a:srgbClr val="AEC5E1"/>
            </a:gs>
            <a:gs pos="100000">
              <a:srgbClr val="C8D8EB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 descr="AU Slide Template_No Bottom Bar.bmp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700215" y="89209"/>
            <a:ext cx="1179059" cy="117416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school.usuhs.edu/admissions/application-requirement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s-residents.aamc.org/applying-medical-school/applying-medical-school-process/applying-medical-school-amca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admissions@usuhs.edu" TargetMode="External"/><Relationship Id="rId4" Type="http://schemas.openxmlformats.org/officeDocument/2006/relationships/hyperlink" Target="https://www.usuhs.edu/medschool/somfaq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rforce.com/find-a-recruit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irforce.com/careers/specialty-careers/healthcare/training-and-education" TargetMode="External"/><Relationship Id="rId4" Type="http://schemas.openxmlformats.org/officeDocument/2006/relationships/hyperlink" Target="https://www.airforcemedicine.af.mil/Media-Center/Fact-Sheets/Display/Article/425437/hpsp-fact-sheet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000" y="2413001"/>
            <a:ext cx="2641600" cy="263063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 txBox="1">
            <a:spLocks noGrp="1"/>
          </p:cNvSpPr>
          <p:nvPr>
            <p:ph type="body" idx="1"/>
          </p:nvPr>
        </p:nvSpPr>
        <p:spPr>
          <a:xfrm>
            <a:off x="2662874" y="2072750"/>
            <a:ext cx="8980500" cy="3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</a:pPr>
            <a:endParaRPr sz="5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lang="en-US" sz="54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AFROTC Medical Programs</a:t>
            </a:r>
            <a:r>
              <a:rPr lang="en-US" sz="6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6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</a:pPr>
            <a:endParaRPr sz="5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</a:pPr>
            <a:endParaRPr sz="5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3418943" y="5233987"/>
            <a:ext cx="84550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457189" marR="0" lvl="0" indent="-457189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3e142850e_0_0"/>
          <p:cNvSpPr txBox="1">
            <a:spLocks noGrp="1"/>
          </p:cNvSpPr>
          <p:nvPr>
            <p:ph type="body" idx="1"/>
          </p:nvPr>
        </p:nvSpPr>
        <p:spPr>
          <a:xfrm>
            <a:off x="2169974" y="187421"/>
            <a:ext cx="8115600" cy="943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188" lvl="0" indent="-45718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5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AF Medical Programs</a:t>
            </a:r>
            <a:endParaRPr sz="2933"/>
          </a:p>
        </p:txBody>
      </p:sp>
      <p:sp>
        <p:nvSpPr>
          <p:cNvPr id="171" name="Google Shape;171;ge3e142850e_0_0"/>
          <p:cNvSpPr/>
          <p:nvPr/>
        </p:nvSpPr>
        <p:spPr>
          <a:xfrm>
            <a:off x="497305" y="1528075"/>
            <a:ext cx="5535370" cy="4933425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e3e142850e_0_0"/>
          <p:cNvSpPr txBox="1"/>
          <p:nvPr/>
        </p:nvSpPr>
        <p:spPr>
          <a:xfrm>
            <a:off x="1417126" y="1626733"/>
            <a:ext cx="3744459" cy="76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1" dirty="0">
                <a:solidFill>
                  <a:srgbClr val="F4F8FB"/>
                </a:solidFill>
                <a:latin typeface="Open Sans"/>
                <a:ea typeface="Open Sans"/>
                <a:cs typeface="Open Sans"/>
                <a:sym typeface="Open Sans"/>
              </a:rPr>
              <a:t>Uniformed Services University of Health </a:t>
            </a:r>
            <a:r>
              <a:rPr lang="en-US" sz="2000" b="1" dirty="0">
                <a:solidFill>
                  <a:srgbClr val="F4F8FB"/>
                </a:solidFill>
                <a:latin typeface="Open Sans"/>
                <a:ea typeface="Open Sans"/>
                <a:cs typeface="Open Sans"/>
                <a:sym typeface="Open Sans"/>
              </a:rPr>
              <a:t>Sciences</a:t>
            </a:r>
            <a:endParaRPr sz="2000" b="1" i="0" u="none" strike="noStrike" cap="none" dirty="0">
              <a:solidFill>
                <a:srgbClr val="F4F8F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ge3e142850e_0_0"/>
          <p:cNvSpPr txBox="1"/>
          <p:nvPr/>
        </p:nvSpPr>
        <p:spPr>
          <a:xfrm>
            <a:off x="7002821" y="1672800"/>
            <a:ext cx="3492300" cy="76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Health Professions Scholarship </a:t>
            </a:r>
            <a:r>
              <a:rPr lang="en-US" sz="20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Program</a:t>
            </a:r>
            <a:r>
              <a:rPr lang="en-US" sz="18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(HPSP)</a:t>
            </a:r>
            <a:endParaRPr sz="1800"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ge3e142850e_0_0"/>
          <p:cNvSpPr/>
          <p:nvPr/>
        </p:nvSpPr>
        <p:spPr>
          <a:xfrm>
            <a:off x="847687" y="2422753"/>
            <a:ext cx="4883338" cy="3886885"/>
          </a:xfrm>
          <a:prstGeom prst="roundRect">
            <a:avLst>
              <a:gd name="adj" fmla="val 16667"/>
            </a:avLst>
          </a:prstGeom>
          <a:solidFill>
            <a:srgbClr val="F4F8FB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e3e142850e_0_0"/>
          <p:cNvSpPr txBox="1"/>
          <p:nvPr/>
        </p:nvSpPr>
        <p:spPr>
          <a:xfrm>
            <a:off x="1698756" y="2683869"/>
            <a:ext cx="31812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dirty="0">
                <a:solidFill>
                  <a:schemeClr val="dk2"/>
                </a:solidFill>
              </a:rPr>
              <a:t>Nation’s federal health professions academy</a:t>
            </a:r>
            <a:endParaRPr sz="16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e3e142850e_0_0"/>
          <p:cNvSpPr txBox="1"/>
          <p:nvPr/>
        </p:nvSpPr>
        <p:spPr>
          <a:xfrm>
            <a:off x="1649230" y="3543469"/>
            <a:ext cx="31812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to all students that are accepted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e3e142850e_0_0"/>
          <p:cNvSpPr txBox="1"/>
          <p:nvPr/>
        </p:nvSpPr>
        <p:spPr>
          <a:xfrm>
            <a:off x="1575214" y="5306141"/>
            <a:ext cx="31812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 commitment 7 years</a:t>
            </a:r>
            <a:endParaRPr sz="16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e3e142850e_0_0"/>
          <p:cNvSpPr txBox="1"/>
          <p:nvPr/>
        </p:nvSpPr>
        <p:spPr>
          <a:xfrm>
            <a:off x="1674390" y="4394962"/>
            <a:ext cx="31812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dirty="0">
                <a:solidFill>
                  <a:schemeClr val="dk2"/>
                </a:solidFill>
              </a:rPr>
              <a:t>Students are AD 2LTs with full pay and benefits</a:t>
            </a:r>
            <a:endParaRPr sz="16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79A35-3862-4AFE-A478-56A15C1DA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642" y="2583897"/>
            <a:ext cx="5458724" cy="25962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>
            <a:spLocks noGrp="1"/>
          </p:cNvSpPr>
          <p:nvPr>
            <p:ph type="body" idx="1"/>
          </p:nvPr>
        </p:nvSpPr>
        <p:spPr>
          <a:xfrm>
            <a:off x="2169974" y="187420"/>
            <a:ext cx="8115457" cy="11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189" lvl="0" indent="-457189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33"/>
              <a:buNone/>
            </a:pPr>
            <a:r>
              <a:rPr lang="en-US" sz="4133">
                <a:latin typeface="Montserrat"/>
                <a:ea typeface="Montserrat"/>
                <a:cs typeface="Montserrat"/>
                <a:sym typeface="Montserrat"/>
              </a:rPr>
              <a:t>Uniformed Services University of Health Sciences</a:t>
            </a:r>
            <a:endParaRPr sz="4133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10"/>
          <p:cNvSpPr>
            <a:spLocks noGrp="1"/>
          </p:cNvSpPr>
          <p:nvPr>
            <p:ph type="pic" idx="2"/>
          </p:nvPr>
        </p:nvSpPr>
        <p:spPr>
          <a:xfrm>
            <a:off x="10798761" y="149793"/>
            <a:ext cx="1036320" cy="1036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>
              <a:srgbClr val="000000">
                <a:alpha val="4235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>
            <a:spLocks noGrp="1"/>
          </p:cNvSpPr>
          <p:nvPr>
            <p:ph type="body" idx="1"/>
          </p:nvPr>
        </p:nvSpPr>
        <p:spPr>
          <a:xfrm>
            <a:off x="516467" y="1808691"/>
            <a:ext cx="10515600" cy="4899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</a:pPr>
            <a:r>
              <a:rPr lang="en-US" sz="4267" u="sng" dirty="0">
                <a:solidFill>
                  <a:schemeClr val="dk1"/>
                </a:solidFill>
              </a:rPr>
              <a:t>Eligibility</a:t>
            </a:r>
            <a:endParaRPr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Must be US citizen</a:t>
            </a:r>
          </a:p>
          <a:p>
            <a:pPr marL="457189" indent="-457189" algn="l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Must meet all commissioning requirements</a:t>
            </a:r>
          </a:p>
          <a:p>
            <a:pPr marL="457189" indent="-457189" algn="l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Must have at least a baccalaureate degree</a:t>
            </a:r>
            <a:endParaRPr lang="en-US" sz="2400"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Must be at least 18 years old, but not older than 36</a:t>
            </a:r>
            <a:endParaRPr sz="2400"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>
                <a:solidFill>
                  <a:schemeClr val="dk1"/>
                </a:solidFill>
              </a:rPr>
              <a:t>3.0 undergraduate GPA</a:t>
            </a:r>
            <a:endParaRPr sz="2400" b="1"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>
                <a:solidFill>
                  <a:schemeClr val="dk1"/>
                </a:solidFill>
              </a:rPr>
              <a:t>Must have at least a 496 MCAT score</a:t>
            </a:r>
            <a:endParaRPr sz="2400" b="1"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>
                <a:solidFill>
                  <a:schemeClr val="dk1"/>
                </a:solidFill>
              </a:rPr>
              <a:t>AFROTC cadets must apply and receive approval for an Educational Delay senior year of college</a:t>
            </a:r>
            <a:endParaRPr sz="2400" b="1" dirty="0"/>
          </a:p>
          <a:p>
            <a:pPr marL="457189" marR="0" lvl="0" indent="-186234" algn="l" rtl="0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</a:pPr>
            <a:endParaRPr sz="42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>
            <a:spLocks noGrp="1"/>
          </p:cNvSpPr>
          <p:nvPr>
            <p:ph type="body" idx="1"/>
          </p:nvPr>
        </p:nvSpPr>
        <p:spPr>
          <a:xfrm>
            <a:off x="2169974" y="187420"/>
            <a:ext cx="8115457" cy="11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189" lvl="0" indent="-457189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33"/>
              <a:buNone/>
            </a:pPr>
            <a:r>
              <a:rPr lang="en-US" sz="4133">
                <a:latin typeface="Montserrat"/>
                <a:ea typeface="Montserrat"/>
                <a:cs typeface="Montserrat"/>
                <a:sym typeface="Montserrat"/>
              </a:rPr>
              <a:t>Uniformed Services University of Health Sciences</a:t>
            </a:r>
            <a:endParaRPr sz="4133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10"/>
          <p:cNvSpPr>
            <a:spLocks noGrp="1"/>
          </p:cNvSpPr>
          <p:nvPr>
            <p:ph type="pic" idx="2"/>
          </p:nvPr>
        </p:nvSpPr>
        <p:spPr>
          <a:xfrm>
            <a:off x="10798761" y="149793"/>
            <a:ext cx="1036320" cy="1036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>
              <a:srgbClr val="000000">
                <a:alpha val="4235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>
            <a:spLocks noGrp="1"/>
          </p:cNvSpPr>
          <p:nvPr>
            <p:ph type="body" idx="1"/>
          </p:nvPr>
        </p:nvSpPr>
        <p:spPr>
          <a:xfrm>
            <a:off x="516467" y="1808691"/>
            <a:ext cx="10515600" cy="4899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</a:pPr>
            <a:r>
              <a:rPr lang="en-US" sz="4267" u="sng" dirty="0">
                <a:solidFill>
                  <a:schemeClr val="dk1"/>
                </a:solidFill>
              </a:rPr>
              <a:t>Eligibility (Cont.)</a:t>
            </a:r>
            <a:endParaRPr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>
                <a:solidFill>
                  <a:schemeClr val="dk1"/>
                </a:solidFill>
              </a:rPr>
              <a:t>Must complete all prerequisites listed here: </a:t>
            </a:r>
            <a:r>
              <a:rPr lang="en-US" sz="2400" b="1" u="sng" dirty="0">
                <a:solidFill>
                  <a:schemeClr val="dk1"/>
                </a:solidFill>
                <a:hlinkClick r:id="rId3"/>
              </a:rPr>
              <a:t>https://medschool.usuhs.edu/admissions/application-requirements</a:t>
            </a:r>
            <a:endParaRPr lang="en-US" sz="800" b="1" u="sng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US" sz="800" u="sng" dirty="0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One academic year of organic chemistry (with lab hours)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One academic year of general chemistry (with lab hours)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One academic year of general physics (with lab hours)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One academic year of biology (with lab hours)</a:t>
            </a:r>
          </a:p>
          <a:p>
            <a:pPr marL="342900" indent="-342900" algn="l">
              <a:spcBef>
                <a:spcPts val="480"/>
              </a:spcBef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One semester of calculus or statistics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One academic year of writing courses</a:t>
            </a:r>
          </a:p>
        </p:txBody>
      </p:sp>
    </p:spTree>
    <p:extLst>
      <p:ext uri="{BB962C8B-B14F-4D97-AF65-F5344CB8AC3E}">
        <p14:creationId xmlns:p14="http://schemas.microsoft.com/office/powerpoint/2010/main" val="297354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>
            <a:spLocks noGrp="1"/>
          </p:cNvSpPr>
          <p:nvPr>
            <p:ph type="body" idx="1"/>
          </p:nvPr>
        </p:nvSpPr>
        <p:spPr>
          <a:xfrm>
            <a:off x="2169974" y="187420"/>
            <a:ext cx="8115457" cy="113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189" lvl="0" indent="-457189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33"/>
              <a:buNone/>
            </a:pPr>
            <a:r>
              <a:rPr lang="en-US" sz="4133">
                <a:latin typeface="Montserrat"/>
                <a:ea typeface="Montserrat"/>
                <a:cs typeface="Montserrat"/>
                <a:sym typeface="Montserrat"/>
              </a:rPr>
              <a:t>Uniformed Services University of Health Sciences</a:t>
            </a:r>
            <a:endParaRPr sz="4133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11"/>
          <p:cNvSpPr>
            <a:spLocks noGrp="1"/>
          </p:cNvSpPr>
          <p:nvPr>
            <p:ph type="pic" idx="2"/>
          </p:nvPr>
        </p:nvSpPr>
        <p:spPr>
          <a:xfrm>
            <a:off x="10798761" y="149793"/>
            <a:ext cx="1036320" cy="1036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>
              <a:srgbClr val="000000">
                <a:alpha val="4235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 txBox="1">
            <a:spLocks noGrp="1"/>
          </p:cNvSpPr>
          <p:nvPr>
            <p:ph type="body" idx="1"/>
          </p:nvPr>
        </p:nvSpPr>
        <p:spPr>
          <a:xfrm>
            <a:off x="524933" y="174095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</a:pPr>
            <a:r>
              <a:rPr lang="en-US" sz="4267" u="sng" dirty="0">
                <a:solidFill>
                  <a:schemeClr val="dk1"/>
                </a:solidFill>
              </a:rPr>
              <a:t>Application Process</a:t>
            </a:r>
            <a:endParaRPr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Apply to the School of Medicine through the American Medical College Application Service (AMCAS) here: </a:t>
            </a:r>
            <a:r>
              <a:rPr lang="en-US" sz="2400" u="sng" dirty="0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https://students-residents.aamc.org/applying-medical-school/applying-medical-school-process/applying-medical-school-amcas/</a:t>
            </a:r>
            <a:endParaRPr sz="2400" dirty="0">
              <a:solidFill>
                <a:schemeClr val="dk1"/>
              </a:solidFill>
            </a:endParaRPr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>
                <a:solidFill>
                  <a:schemeClr val="dk1"/>
                </a:solidFill>
              </a:rPr>
              <a:t>Submission window is 1 June – 1 November</a:t>
            </a:r>
            <a:endParaRPr b="1"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>
                <a:solidFill>
                  <a:schemeClr val="dk1"/>
                </a:solidFill>
              </a:rPr>
              <a:t>FAQs: </a:t>
            </a:r>
            <a:r>
              <a:rPr lang="en-US" sz="2400" b="1" u="sng" dirty="0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https://www.usuhs.edu/medschool/somfaq</a:t>
            </a:r>
            <a:endParaRPr sz="2400" b="1" dirty="0">
              <a:solidFill>
                <a:schemeClr val="dk1"/>
              </a:solidFill>
            </a:endParaRPr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>
                <a:solidFill>
                  <a:schemeClr val="dk1"/>
                </a:solidFill>
              </a:rPr>
              <a:t>Contact information: 800-772-1743; </a:t>
            </a:r>
            <a:r>
              <a:rPr lang="en-US" sz="2400" b="1" u="sng" dirty="0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admissions@usuhs.edu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endParaRPr sz="24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3e142850e_0_0"/>
          <p:cNvSpPr txBox="1">
            <a:spLocks noGrp="1"/>
          </p:cNvSpPr>
          <p:nvPr>
            <p:ph type="body" idx="1"/>
          </p:nvPr>
        </p:nvSpPr>
        <p:spPr>
          <a:xfrm>
            <a:off x="2169974" y="187421"/>
            <a:ext cx="8115600" cy="943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188" lvl="0" indent="-45718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5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AF Medical Programs</a:t>
            </a:r>
            <a:endParaRPr sz="2933"/>
          </a:p>
        </p:txBody>
      </p:sp>
      <p:sp>
        <p:nvSpPr>
          <p:cNvPr id="170" name="Google Shape;170;ge3e142850e_0_0"/>
          <p:cNvSpPr>
            <a:spLocks noGrp="1"/>
          </p:cNvSpPr>
          <p:nvPr>
            <p:ph type="pic" idx="2"/>
          </p:nvPr>
        </p:nvSpPr>
        <p:spPr>
          <a:xfrm>
            <a:off x="10798761" y="149793"/>
            <a:ext cx="1036200" cy="1036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32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e3e142850e_0_0"/>
          <p:cNvSpPr/>
          <p:nvPr/>
        </p:nvSpPr>
        <p:spPr>
          <a:xfrm>
            <a:off x="911011" y="1626733"/>
            <a:ext cx="5184989" cy="4933425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e3e142850e_0_0"/>
          <p:cNvSpPr txBox="1"/>
          <p:nvPr/>
        </p:nvSpPr>
        <p:spPr>
          <a:xfrm>
            <a:off x="1754508" y="1771458"/>
            <a:ext cx="3492300" cy="76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Health Professions Scholarship </a:t>
            </a:r>
            <a:r>
              <a:rPr lang="en-US" sz="20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Program</a:t>
            </a:r>
            <a:r>
              <a:rPr lang="en-US" sz="18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(HPSP)</a:t>
            </a:r>
            <a:endParaRPr sz="1800"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ge3e142850e_0_0"/>
          <p:cNvSpPr/>
          <p:nvPr/>
        </p:nvSpPr>
        <p:spPr>
          <a:xfrm>
            <a:off x="1212662" y="2540870"/>
            <a:ext cx="4575993" cy="3867428"/>
          </a:xfrm>
          <a:prstGeom prst="roundRect">
            <a:avLst>
              <a:gd name="adj" fmla="val 16667"/>
            </a:avLst>
          </a:prstGeom>
          <a:solidFill>
            <a:srgbClr val="F4F8FB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e3e142850e_0_0"/>
          <p:cNvSpPr txBox="1"/>
          <p:nvPr/>
        </p:nvSpPr>
        <p:spPr>
          <a:xfrm>
            <a:off x="6460975" y="2727925"/>
            <a:ext cx="318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e3e142850e_0_0"/>
          <p:cNvSpPr txBox="1"/>
          <p:nvPr/>
        </p:nvSpPr>
        <p:spPr>
          <a:xfrm>
            <a:off x="1911785" y="2736546"/>
            <a:ext cx="31812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Full tuition and fees at any accredited US medical school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e3e142850e_0_0"/>
          <p:cNvSpPr txBox="1"/>
          <p:nvPr/>
        </p:nvSpPr>
        <p:spPr>
          <a:xfrm>
            <a:off x="1926343" y="3669246"/>
            <a:ext cx="31812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dirty="0">
                <a:solidFill>
                  <a:schemeClr val="dk2"/>
                </a:solidFill>
              </a:rPr>
              <a:t>Books and other education fees also covered</a:t>
            </a:r>
            <a:endParaRPr sz="16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e3e142850e_0_0"/>
          <p:cNvSpPr txBox="1"/>
          <p:nvPr/>
        </p:nvSpPr>
        <p:spPr>
          <a:xfrm>
            <a:off x="1926343" y="4464853"/>
            <a:ext cx="31812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Provides annual salary of $32,000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e3e142850e_0_0"/>
          <p:cNvSpPr txBox="1"/>
          <p:nvPr/>
        </p:nvSpPr>
        <p:spPr>
          <a:xfrm>
            <a:off x="1702457" y="5273938"/>
            <a:ext cx="3596402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dirty="0">
                <a:solidFill>
                  <a:schemeClr val="dk2"/>
                </a:solidFill>
              </a:rPr>
              <a:t>Service commitment 3-4 depending on scholarship length</a:t>
            </a:r>
            <a:endParaRPr sz="16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23DBB0-BFD5-4119-B6EE-0A12F8219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774" y="2829385"/>
            <a:ext cx="5814996" cy="327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43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>
            <a:spLocks noGrp="1"/>
          </p:cNvSpPr>
          <p:nvPr>
            <p:ph type="body" idx="1"/>
          </p:nvPr>
        </p:nvSpPr>
        <p:spPr>
          <a:xfrm>
            <a:off x="2169974" y="187421"/>
            <a:ext cx="8115457" cy="109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189" lvl="0" indent="-457189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33"/>
              <a:buNone/>
            </a:pPr>
            <a:r>
              <a:rPr lang="en-US" sz="3733">
                <a:latin typeface="Montserrat"/>
                <a:ea typeface="Montserrat"/>
                <a:cs typeface="Montserrat"/>
                <a:sym typeface="Montserrat"/>
              </a:rPr>
              <a:t>Health Professions Scholarship Program</a:t>
            </a:r>
            <a:endParaRPr sz="3733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12"/>
          <p:cNvSpPr>
            <a:spLocks noGrp="1"/>
          </p:cNvSpPr>
          <p:nvPr>
            <p:ph type="pic" idx="2"/>
          </p:nvPr>
        </p:nvSpPr>
        <p:spPr>
          <a:xfrm>
            <a:off x="10798761" y="149793"/>
            <a:ext cx="1036320" cy="1036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>
              <a:srgbClr val="000000">
                <a:alpha val="4235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 txBox="1">
            <a:spLocks noGrp="1"/>
          </p:cNvSpPr>
          <p:nvPr>
            <p:ph type="body" idx="1"/>
          </p:nvPr>
        </p:nvSpPr>
        <p:spPr>
          <a:xfrm>
            <a:off x="651933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</a:pPr>
            <a:r>
              <a:rPr lang="en-US" sz="4267" u="sng" dirty="0">
                <a:solidFill>
                  <a:schemeClr val="dk1"/>
                </a:solidFill>
              </a:rPr>
              <a:t>Eligibility</a:t>
            </a:r>
            <a:endParaRPr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Must be a US citizen</a:t>
            </a:r>
            <a:endParaRPr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Must meet all commissioning requirements</a:t>
            </a:r>
            <a:endParaRPr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>
                <a:solidFill>
                  <a:schemeClr val="dk1"/>
                </a:solidFill>
              </a:rPr>
              <a:t>Must have at least a 3.2 undergraduate GPA and 500 MCAT with a minimum score of 124 on each subsection</a:t>
            </a:r>
            <a:endParaRPr b="1"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>
                <a:solidFill>
                  <a:schemeClr val="dk1"/>
                </a:solidFill>
              </a:rPr>
              <a:t>AFROTC students must apply and receive approval for an Educational Delay senior year of college</a:t>
            </a:r>
          </a:p>
          <a:p>
            <a:pPr marL="457189" indent="-457189" algn="l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u="sng" dirty="0">
                <a:solidFill>
                  <a:srgbClr val="FF0000"/>
                </a:solidFill>
              </a:rPr>
              <a:t>Must be accepted or enrolled in a medical school accredited by either the Association of American Medical Colleges (MD) or American Osteopathic Association (DO) in the US</a:t>
            </a:r>
            <a:endParaRPr sz="2400" b="1" u="sng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 txBox="1">
            <a:spLocks noGrp="1"/>
          </p:cNvSpPr>
          <p:nvPr>
            <p:ph type="body" idx="1"/>
          </p:nvPr>
        </p:nvSpPr>
        <p:spPr>
          <a:xfrm>
            <a:off x="2169974" y="187421"/>
            <a:ext cx="8115457" cy="109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189" lvl="0" indent="-457189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33"/>
              <a:buNone/>
            </a:pPr>
            <a:r>
              <a:rPr lang="en-US" sz="3733">
                <a:latin typeface="Montserrat"/>
                <a:ea typeface="Montserrat"/>
                <a:cs typeface="Montserrat"/>
                <a:sym typeface="Montserrat"/>
              </a:rPr>
              <a:t>Health Professions Scholarship Program</a:t>
            </a:r>
            <a:endParaRPr sz="3733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13"/>
          <p:cNvSpPr>
            <a:spLocks noGrp="1"/>
          </p:cNvSpPr>
          <p:nvPr>
            <p:ph type="pic" idx="2"/>
          </p:nvPr>
        </p:nvSpPr>
        <p:spPr>
          <a:xfrm>
            <a:off x="10798761" y="149793"/>
            <a:ext cx="1036320" cy="1036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>
              <a:srgbClr val="000000">
                <a:alpha val="4235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 txBox="1">
            <a:spLocks noGrp="1"/>
          </p:cNvSpPr>
          <p:nvPr>
            <p:ph type="body" idx="1"/>
          </p:nvPr>
        </p:nvSpPr>
        <p:spPr>
          <a:xfrm>
            <a:off x="499533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</a:pPr>
            <a:r>
              <a:rPr lang="en-US" sz="4267" u="sng" dirty="0">
                <a:solidFill>
                  <a:schemeClr val="dk1"/>
                </a:solidFill>
              </a:rPr>
              <a:t>Application Process</a:t>
            </a:r>
            <a:endParaRPr dirty="0"/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Contact an Air Force Health Professions recruiter at </a:t>
            </a:r>
            <a:r>
              <a:rPr lang="en-US" sz="2400" u="sng" dirty="0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https://www.airforce.com/find-a-recruiter</a:t>
            </a:r>
            <a:endParaRPr lang="en-US" sz="2400" u="sng" dirty="0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Best to apply in the fall semester of the year PRIOR to entering med school</a:t>
            </a:r>
            <a:endParaRPr lang="en-US" sz="2400" u="sng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</a:rPr>
              <a:t>Useful links: </a:t>
            </a:r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 dirty="0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https://www.airforcemedicine.af.mil/Media-Center/Fact-Sheets/Display/Article/425437/hpsp-fact-sheet/</a:t>
            </a:r>
            <a:endParaRPr lang="en-US" sz="2400" u="sng" dirty="0">
              <a:solidFill>
                <a:schemeClr val="dk1"/>
              </a:solidFill>
            </a:endParaRPr>
          </a:p>
          <a:p>
            <a:pPr marL="457189" marR="0" lvl="0" indent="-45718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 dirty="0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https://www.airforce.com/careers/specialty-careers/healthcare/training-and-education</a:t>
            </a:r>
            <a:endParaRPr sz="2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"/>
          <p:cNvSpPr txBox="1">
            <a:spLocks noGrp="1"/>
          </p:cNvSpPr>
          <p:nvPr>
            <p:ph type="body" idx="1"/>
          </p:nvPr>
        </p:nvSpPr>
        <p:spPr>
          <a:xfrm>
            <a:off x="2169974" y="187421"/>
            <a:ext cx="8115457" cy="943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189" lvl="0" indent="-45718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None/>
            </a:pPr>
            <a:r>
              <a:rPr lang="en-US" dirty="0"/>
              <a:t>BLUF</a:t>
            </a:r>
            <a:endParaRPr dirty="0"/>
          </a:p>
        </p:txBody>
      </p:sp>
      <p:sp>
        <p:nvSpPr>
          <p:cNvPr id="301" name="Google Shape;301;p9"/>
          <p:cNvSpPr>
            <a:spLocks noGrp="1"/>
          </p:cNvSpPr>
          <p:nvPr>
            <p:ph type="pic" idx="2"/>
          </p:nvPr>
        </p:nvSpPr>
        <p:spPr>
          <a:xfrm>
            <a:off x="10798761" y="149793"/>
            <a:ext cx="1036320" cy="1036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>
              <a:srgbClr val="000000">
                <a:alpha val="4235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>
            <a:spLocks noGrp="1"/>
          </p:cNvSpPr>
          <p:nvPr>
            <p:ph type="body" idx="1"/>
          </p:nvPr>
        </p:nvSpPr>
        <p:spPr>
          <a:xfrm>
            <a:off x="801321" y="1680538"/>
            <a:ext cx="10515600" cy="499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86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Uniformed Services University of Health Sciences (USUHS)</a:t>
            </a:r>
            <a:endParaRPr sz="3200" dirty="0"/>
          </a:p>
          <a:p>
            <a:pPr marL="1066785" lvl="1" indent="-457200">
              <a:lnSpc>
                <a:spcPct val="80000"/>
              </a:lnSpc>
              <a:spcBef>
                <a:spcPts val="523"/>
              </a:spcBef>
              <a:buSzPts val="2613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Dedicated </a:t>
            </a:r>
            <a:r>
              <a:rPr lang="en-US" sz="2800" dirty="0"/>
              <a:t>med school for the DoD</a:t>
            </a:r>
          </a:p>
          <a:p>
            <a:pPr marL="1066785" lvl="1" indent="-457200">
              <a:lnSpc>
                <a:spcPct val="80000"/>
              </a:lnSpc>
              <a:spcBef>
                <a:spcPts val="523"/>
              </a:spcBef>
              <a:buSzPts val="2613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are active duty 2d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Lts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full pay and allowances</a:t>
            </a:r>
          </a:p>
          <a:p>
            <a:pPr marL="1066785" lvl="1" indent="-457200">
              <a:lnSpc>
                <a:spcPct val="80000"/>
              </a:lnSpc>
              <a:spcBef>
                <a:spcPts val="523"/>
              </a:spcBef>
              <a:buSzPts val="2613"/>
            </a:pPr>
            <a:r>
              <a:rPr lang="en-US" sz="2800" dirty="0"/>
              <a:t>Apply via AMACS</a:t>
            </a:r>
            <a:endParaRPr sz="2800" dirty="0"/>
          </a:p>
          <a:p>
            <a:pPr marR="0" lvl="0" indent="-457200" algn="l" rtl="0">
              <a:lnSpc>
                <a:spcPct val="80000"/>
              </a:lnSpc>
              <a:spcBef>
                <a:spcPts val="597"/>
              </a:spcBef>
              <a:spcAft>
                <a:spcPts val="0"/>
              </a:spcAft>
              <a:buClr>
                <a:schemeClr val="dk1"/>
              </a:buClr>
              <a:buSzPts val="2986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 Professions Scholarship Program (HPSP)</a:t>
            </a:r>
            <a:endParaRPr sz="3200" dirty="0"/>
          </a:p>
          <a:p>
            <a:pPr marL="1066785" lvl="1" indent="-457200">
              <a:lnSpc>
                <a:spcPct val="80000"/>
              </a:lnSpc>
              <a:spcBef>
                <a:spcPts val="523"/>
              </a:spcBef>
              <a:buSzPts val="2613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full tuition and fees at any accredited US medical school</a:t>
            </a:r>
            <a:endParaRPr sz="2800" b="1" dirty="0"/>
          </a:p>
          <a:p>
            <a:pPr marL="1066785" lvl="1" indent="-457200">
              <a:lnSpc>
                <a:spcPct val="80000"/>
              </a:lnSpc>
              <a:spcBef>
                <a:spcPts val="523"/>
              </a:spcBef>
              <a:buSzPts val="2613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Books and other educational fees are covered</a:t>
            </a:r>
            <a:endParaRPr sz="2800" dirty="0"/>
          </a:p>
          <a:p>
            <a:pPr marL="1066785" lvl="1" indent="-457200">
              <a:lnSpc>
                <a:spcPct val="80000"/>
              </a:lnSpc>
              <a:spcBef>
                <a:spcPts val="523"/>
              </a:spcBef>
              <a:buSzPts val="2613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an annual salary of $28,000</a:t>
            </a:r>
          </a:p>
          <a:p>
            <a:pPr marL="1066785" lvl="1" indent="-457200">
              <a:lnSpc>
                <a:spcPct val="80000"/>
              </a:lnSpc>
              <a:spcBef>
                <a:spcPts val="523"/>
              </a:spcBef>
              <a:buSzPts val="2613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via health professions recruiter</a:t>
            </a:r>
          </a:p>
          <a:p>
            <a:pPr marL="609585" lvl="1" indent="0">
              <a:lnSpc>
                <a:spcPct val="80000"/>
              </a:lnSpc>
              <a:spcBef>
                <a:spcPts val="523"/>
              </a:spcBef>
              <a:buSzPts val="2613"/>
              <a:buNone/>
            </a:pPr>
            <a:endParaRPr lang="en-US" sz="2800" dirty="0"/>
          </a:p>
          <a:p>
            <a:pPr marL="609585" lvl="1" indent="0">
              <a:lnSpc>
                <a:spcPct val="80000"/>
              </a:lnSpc>
              <a:spcBef>
                <a:spcPts val="523"/>
              </a:spcBef>
              <a:buSzPts val="2613"/>
              <a:buNone/>
            </a:pPr>
            <a:r>
              <a:rPr lang="en-US" sz="3600" b="1" u="sng" dirty="0">
                <a:solidFill>
                  <a:srgbClr val="FF0000"/>
                </a:solidFill>
              </a:rPr>
              <a:t>Both trade education funding for time in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 txBox="1">
            <a:spLocks noGrp="1"/>
          </p:cNvSpPr>
          <p:nvPr>
            <p:ph type="body" idx="1"/>
          </p:nvPr>
        </p:nvSpPr>
        <p:spPr>
          <a:xfrm>
            <a:off x="2169974" y="187421"/>
            <a:ext cx="8115457" cy="943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189" lvl="0" indent="-45718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None/>
            </a:pPr>
            <a:r>
              <a:rPr lang="en-US"/>
              <a:t>Questions</a:t>
            </a:r>
            <a:endParaRPr/>
          </a:p>
        </p:txBody>
      </p:sp>
      <p:sp>
        <p:nvSpPr>
          <p:cNvPr id="287" name="Google Shape;287;p15"/>
          <p:cNvSpPr>
            <a:spLocks noGrp="1"/>
          </p:cNvSpPr>
          <p:nvPr>
            <p:ph type="pic" idx="2"/>
          </p:nvPr>
        </p:nvSpPr>
        <p:spPr>
          <a:xfrm>
            <a:off x="10798761" y="149793"/>
            <a:ext cx="1036320" cy="10363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>
              <a:srgbClr val="000000">
                <a:alpha val="4235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1676E0-D17B-44D6-9784-85E30E45F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839900"/>
            <a:ext cx="11258550" cy="476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olm Center Staff Meeting New Template 17 Nov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907035B6E8974C81BAE77BDCBA60C4" ma:contentTypeVersion="11" ma:contentTypeDescription="Create a new document." ma:contentTypeScope="" ma:versionID="976d8c3f8ec36e2c6a7d97945394b9c9">
  <xsd:schema xmlns:xsd="http://www.w3.org/2001/XMLSchema" xmlns:xs="http://www.w3.org/2001/XMLSchema" xmlns:p="http://schemas.microsoft.com/office/2006/metadata/properties" xmlns:ns2="61824daf-481a-4e0a-a947-471483cd829a" xmlns:ns3="82421c44-1723-4956-855d-f422d300b665" targetNamespace="http://schemas.microsoft.com/office/2006/metadata/properties" ma:root="true" ma:fieldsID="564247dfb9e924878108d0d5ca4a7135" ns2:_="" ns3:_="">
    <xsd:import namespace="61824daf-481a-4e0a-a947-471483cd829a"/>
    <xsd:import namespace="82421c44-1723-4956-855d-f422d300b66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824daf-481a-4e0a-a947-471483cd829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421c44-1723-4956-855d-f422d300b6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1D5DC5-E06F-4805-9D37-D6099F85BE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824daf-481a-4e0a-a947-471483cd829a"/>
    <ds:schemaRef ds:uri="82421c44-1723-4956-855d-f422d300b6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E4EF8E-04C8-4DF7-915B-0708034DDC7A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61824daf-481a-4e0a-a947-471483cd829a"/>
    <ds:schemaRef ds:uri="http://purl.org/dc/terms/"/>
    <ds:schemaRef ds:uri="http://schemas.openxmlformats.org/package/2006/metadata/core-properties"/>
    <ds:schemaRef ds:uri="82421c44-1723-4956-855d-f422d300b66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00E150C-AAE0-4CAA-80AB-2399A80CD35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8821</TotalTime>
  <Words>481</Words>
  <Application>Microsoft Office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</vt:lpstr>
      <vt:lpstr>Open Sans</vt:lpstr>
      <vt:lpstr>Times New Roman</vt:lpstr>
      <vt:lpstr>Arial</vt:lpstr>
      <vt:lpstr>Calibri</vt:lpstr>
      <vt:lpstr>Holm Center Staff Meeting New Template 17 Nov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MONK, CLAUDIA H Capt USAF AETC AFROTC/AFROTC/RRR</dc:creator>
  <cp:lastModifiedBy>KATHERINE KRUMM</cp:lastModifiedBy>
  <cp:revision>14</cp:revision>
  <dcterms:created xsi:type="dcterms:W3CDTF">2019-07-09T17:35:38Z</dcterms:created>
  <dcterms:modified xsi:type="dcterms:W3CDTF">2021-10-06T18:40:17Z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0x0101001E907035B6E8974C81BAE77BDCBA60C4</vt:lpwstr>
  </property>
</Properties>
</file>